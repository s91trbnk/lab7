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3" r:id="rId2"/>
    <p:sldId id="294" r:id="rId3"/>
    <p:sldId id="295" r:id="rId4"/>
    <p:sldId id="296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AE10B0-C5E9-2445-3085-159A646EFD6D}" name="Zeenath Reza Khan" initials="ZK" userId="S::ZeenathKhan@uowdubai.ac.ae::306b2e7a-4f84-4774-9c67-b1b3239493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0600"/>
    <a:srgbClr val="0C2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90" autoAdjust="0"/>
    <p:restoredTop sz="94660"/>
  </p:normalViewPr>
  <p:slideViewPr>
    <p:cSldViewPr>
      <p:cViewPr varScale="1">
        <p:scale>
          <a:sx n="83" d="100"/>
          <a:sy n="83" d="100"/>
        </p:scale>
        <p:origin x="110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47CA0-F748-4E74-A917-417F4616AA20}" type="datetimeFigureOut">
              <a:rPr lang="en-AE" smtClean="0"/>
              <a:t>23/02/2026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245DA-A187-4647-BFAE-AFD8A0C8CD24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7917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1560" y="3380327"/>
            <a:ext cx="6408712" cy="912769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1560" y="4437112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743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1560" y="3380327"/>
            <a:ext cx="6408712" cy="912769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1560" y="4437112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551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544" y="274638"/>
            <a:ext cx="8208912" cy="778098"/>
          </a:xfrm>
        </p:spPr>
        <p:txBody>
          <a:bodyPr>
            <a:normAutofit/>
          </a:bodyPr>
          <a:lstStyle>
            <a:lvl1pPr algn="l">
              <a:defRPr sz="4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21088"/>
          </a:xfrm>
        </p:spPr>
        <p:txBody>
          <a:bodyPr>
            <a:normAutofit/>
          </a:bodyPr>
          <a:lstStyle>
            <a:lvl1pPr>
              <a:defRPr sz="1600">
                <a:latin typeface="Times New Roman" pitchFamily="18" charset="0"/>
                <a:cs typeface="Times New Roman" pitchFamily="18" charset="0"/>
              </a:defRPr>
            </a:lvl1pPr>
            <a:lvl2pPr>
              <a:defRPr sz="1600">
                <a:latin typeface="Times New Roman" pitchFamily="18" charset="0"/>
                <a:cs typeface="Times New Roman" pitchFamily="18" charset="0"/>
              </a:defRPr>
            </a:lvl2pPr>
            <a:lvl3pPr>
              <a:defRPr sz="1600">
                <a:latin typeface="Times New Roman" pitchFamily="18" charset="0"/>
                <a:cs typeface="Times New Roman" pitchFamily="18" charset="0"/>
              </a:defRPr>
            </a:lvl3pPr>
            <a:lvl4pPr>
              <a:defRPr sz="1600">
                <a:latin typeface="Times New Roman" pitchFamily="18" charset="0"/>
                <a:cs typeface="Times New Roman" pitchFamily="18" charset="0"/>
              </a:defRPr>
            </a:lvl4pPr>
            <a:lvl5pPr>
              <a:defRPr sz="16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5" y="1051967"/>
            <a:ext cx="8208144" cy="50482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>
                <a:solidFill>
                  <a:srgbClr val="E106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Subtitle</a:t>
            </a:r>
            <a:endParaRPr lang="en-AU" sz="2000" dirty="0">
              <a:solidFill>
                <a:srgbClr val="E106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57200" y="6525344"/>
            <a:ext cx="7355160" cy="0"/>
          </a:xfrm>
          <a:prstGeom prst="line">
            <a:avLst/>
          </a:prstGeom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93" y="6139496"/>
            <a:ext cx="749963" cy="6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28800"/>
            <a:ext cx="4038600" cy="4411942"/>
          </a:xfrm>
        </p:spPr>
        <p:txBody>
          <a:bodyPr>
            <a:normAutofit/>
          </a:bodyPr>
          <a:lstStyle>
            <a:lvl1pPr>
              <a:defRPr sz="1600">
                <a:latin typeface="Times New Roman" pitchFamily="18" charset="0"/>
                <a:cs typeface="Times New Roman" pitchFamily="18" charset="0"/>
              </a:defRPr>
            </a:lvl1pPr>
            <a:lvl2pPr>
              <a:defRPr sz="1600">
                <a:latin typeface="Times New Roman" pitchFamily="18" charset="0"/>
                <a:cs typeface="Times New Roman" pitchFamily="18" charset="0"/>
              </a:defRPr>
            </a:lvl2pPr>
            <a:lvl3pPr>
              <a:defRPr sz="1600">
                <a:latin typeface="Times New Roman" pitchFamily="18" charset="0"/>
                <a:cs typeface="Times New Roman" pitchFamily="18" charset="0"/>
              </a:defRPr>
            </a:lvl3pPr>
            <a:lvl4pPr>
              <a:defRPr sz="1600">
                <a:latin typeface="Times New Roman" pitchFamily="18" charset="0"/>
                <a:cs typeface="Times New Roman" pitchFamily="18" charset="0"/>
              </a:defRPr>
            </a:lvl4pPr>
            <a:lvl5pPr>
              <a:defRPr sz="1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28800"/>
            <a:ext cx="4038600" cy="4411942"/>
          </a:xfrm>
        </p:spPr>
        <p:txBody>
          <a:bodyPr>
            <a:normAutofit/>
          </a:bodyPr>
          <a:lstStyle>
            <a:lvl1pPr>
              <a:defRPr sz="1600">
                <a:latin typeface="Times New Roman" pitchFamily="18" charset="0"/>
                <a:cs typeface="Times New Roman" pitchFamily="18" charset="0"/>
              </a:defRPr>
            </a:lvl1pPr>
            <a:lvl2pPr>
              <a:defRPr sz="1600">
                <a:latin typeface="Times New Roman" pitchFamily="18" charset="0"/>
                <a:cs typeface="Times New Roman" pitchFamily="18" charset="0"/>
              </a:defRPr>
            </a:lvl2pPr>
            <a:lvl3pPr>
              <a:defRPr sz="1600">
                <a:latin typeface="Times New Roman" pitchFamily="18" charset="0"/>
                <a:cs typeface="Times New Roman" pitchFamily="18" charset="0"/>
              </a:defRPr>
            </a:lvl3pPr>
            <a:lvl4pPr>
              <a:defRPr sz="1600">
                <a:latin typeface="Times New Roman" pitchFamily="18" charset="0"/>
                <a:cs typeface="Times New Roman" pitchFamily="18" charset="0"/>
              </a:defRPr>
            </a:lvl4pPr>
            <a:lvl5pPr>
              <a:defRPr sz="1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7544" y="274638"/>
            <a:ext cx="8208912" cy="778098"/>
          </a:xfrm>
        </p:spPr>
        <p:txBody>
          <a:bodyPr>
            <a:normAutofit/>
          </a:bodyPr>
          <a:lstStyle>
            <a:lvl1pPr algn="l">
              <a:defRPr sz="4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1051967"/>
            <a:ext cx="8208145" cy="50482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>
                <a:solidFill>
                  <a:srgbClr val="E106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Subtitle</a:t>
            </a:r>
            <a:endParaRPr lang="en-AU" sz="2000" dirty="0">
              <a:solidFill>
                <a:srgbClr val="E106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6525344"/>
            <a:ext cx="7355160" cy="0"/>
          </a:xfrm>
          <a:prstGeom prst="line">
            <a:avLst/>
          </a:prstGeom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93" y="6139496"/>
            <a:ext cx="749963" cy="6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3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7544" y="274638"/>
            <a:ext cx="8208912" cy="778098"/>
          </a:xfrm>
        </p:spPr>
        <p:txBody>
          <a:bodyPr>
            <a:normAutofit/>
          </a:bodyPr>
          <a:lstStyle>
            <a:lvl1pPr algn="l">
              <a:defRPr sz="4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1052736"/>
            <a:ext cx="8207375" cy="50323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>
                <a:solidFill>
                  <a:srgbClr val="E106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Subtitle</a:t>
            </a:r>
            <a:endParaRPr lang="en-AU" sz="2000" dirty="0">
              <a:solidFill>
                <a:srgbClr val="E106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7200" y="6525344"/>
            <a:ext cx="7355160" cy="0"/>
          </a:xfrm>
          <a:prstGeom prst="line">
            <a:avLst/>
          </a:prstGeom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93" y="6139496"/>
            <a:ext cx="749963" cy="6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7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457200" y="6525344"/>
            <a:ext cx="7355160" cy="0"/>
          </a:xfrm>
          <a:prstGeom prst="line">
            <a:avLst/>
          </a:prstGeom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93" y="6139496"/>
            <a:ext cx="749963" cy="6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2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20246"/>
          </a:xfrm>
        </p:spPr>
        <p:txBody>
          <a:bodyPr>
            <a:normAutofit/>
          </a:bodyPr>
          <a:lstStyle>
            <a:lvl1pPr>
              <a:defRPr sz="1600">
                <a:latin typeface="Times New Roman" pitchFamily="18" charset="0"/>
                <a:cs typeface="Times New Roman" pitchFamily="18" charset="0"/>
              </a:defRPr>
            </a:lvl1pPr>
            <a:lvl2pPr>
              <a:defRPr sz="1600">
                <a:latin typeface="Times New Roman" pitchFamily="18" charset="0"/>
                <a:cs typeface="Times New Roman" pitchFamily="18" charset="0"/>
              </a:defRPr>
            </a:lvl2pPr>
            <a:lvl3pPr>
              <a:defRPr sz="1600">
                <a:latin typeface="Times New Roman" pitchFamily="18" charset="0"/>
                <a:cs typeface="Times New Roman" pitchFamily="18" charset="0"/>
              </a:defRPr>
            </a:lvl3pPr>
            <a:lvl4pPr>
              <a:defRPr sz="1600">
                <a:latin typeface="Times New Roman" pitchFamily="18" charset="0"/>
                <a:cs typeface="Times New Roman" pitchFamily="18" charset="0"/>
              </a:defRPr>
            </a:lvl4pPr>
            <a:lvl5pPr>
              <a:defRPr sz="1600">
                <a:latin typeface="Times New Roman" pitchFamily="18" charset="0"/>
                <a:cs typeface="Times New Roman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7544" y="274638"/>
            <a:ext cx="3024336" cy="1354162"/>
          </a:xfrm>
        </p:spPr>
        <p:txBody>
          <a:bodyPr>
            <a:normAutofit/>
          </a:bodyPr>
          <a:lstStyle>
            <a:lvl1pPr algn="l">
              <a:defRPr sz="4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1628800"/>
            <a:ext cx="3024187" cy="4464496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dirty="0"/>
              <a:t>Subtitle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57200" y="6525344"/>
            <a:ext cx="7355160" cy="0"/>
          </a:xfrm>
          <a:prstGeom prst="line">
            <a:avLst/>
          </a:prstGeom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93" y="6139496"/>
            <a:ext cx="749963" cy="6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7544" y="4811142"/>
            <a:ext cx="8208912" cy="778098"/>
          </a:xfrm>
        </p:spPr>
        <p:txBody>
          <a:bodyPr>
            <a:normAutofit/>
          </a:bodyPr>
          <a:lstStyle>
            <a:lvl1pPr algn="l">
              <a:defRPr sz="40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5589240"/>
            <a:ext cx="8207375" cy="43204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>
                <a:solidFill>
                  <a:srgbClr val="E106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Subtitle</a:t>
            </a:r>
            <a:endParaRPr lang="en-AU" sz="2000" dirty="0">
              <a:solidFill>
                <a:srgbClr val="E106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57200" y="6525344"/>
            <a:ext cx="7355160" cy="0"/>
          </a:xfrm>
          <a:prstGeom prst="line">
            <a:avLst/>
          </a:prstGeom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493" y="6139496"/>
            <a:ext cx="749963" cy="61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4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765176" y="5145741"/>
            <a:ext cx="2061883" cy="1640541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075" y="5434695"/>
            <a:ext cx="1287736" cy="1062632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843213" y="3140967"/>
            <a:ext cx="3456979" cy="504057"/>
          </a:xfrm>
          <a:effectLst/>
        </p:spPr>
        <p:txBody>
          <a:bodyPr>
            <a:noAutofit/>
          </a:bodyPr>
          <a:lstStyle>
            <a:lvl1pPr marL="0" indent="0" algn="ctr" rtl="0">
              <a:buNone/>
              <a:defRPr sz="16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Closing text (</a:t>
            </a:r>
            <a:r>
              <a:rPr lang="en-US" dirty="0" err="1"/>
              <a:t>eg</a:t>
            </a:r>
            <a:r>
              <a:rPr lang="en-US" dirty="0"/>
              <a:t>: Thank you, The End)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349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C23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0C2340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633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C23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607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3599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61" r:id="rId9"/>
    <p:sldLayoutId id="2147483662" r:id="rId10"/>
    <p:sldLayoutId id="21474836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gitlab.com/ee/ci/yaml/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lab.com/ee/ci/examples/" TargetMode="External"/><Relationship Id="rId2" Type="http://schemas.openxmlformats.org/officeDocument/2006/relationships/hyperlink" Target="https://www.youtube.com/watch?v=jUiKi6FWYrg&amp;list=PLhW3qG5bs-L8YSnCiyQ-jD8XfHC2W1NL_&amp;index=8" TargetMode="Externa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hyperlink" Target="https://www.youtube.com/watch?v=UbtB4sMaaN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536" y="548680"/>
            <a:ext cx="4330824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CI/CD</a:t>
            </a:r>
            <a:r>
              <a:rPr spc="-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GitLab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407" y="1896792"/>
            <a:ext cx="6602745" cy="3637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07511E-AC98-96B3-57C4-ABFEB5A8CD82}"/>
              </a:ext>
            </a:extLst>
          </p:cNvPr>
          <p:cNvSpPr txBox="1"/>
          <p:nvPr/>
        </p:nvSpPr>
        <p:spPr>
          <a:xfrm>
            <a:off x="683568" y="6315877"/>
            <a:ext cx="1450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Slide source: Dr Soly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154" y="1285459"/>
            <a:ext cx="721166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dirty="0"/>
              <a:t>CI/CD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GitLab</a:t>
            </a:r>
            <a:endParaRPr spc="-1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B1039-4D09-3F5C-1C38-6821F19E9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10" y="2749290"/>
            <a:ext cx="7916380" cy="34104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49D9A6-989B-1EE0-9D9B-209B79FF1589}"/>
              </a:ext>
            </a:extLst>
          </p:cNvPr>
          <p:cNvSpPr txBox="1"/>
          <p:nvPr/>
        </p:nvSpPr>
        <p:spPr>
          <a:xfrm>
            <a:off x="867310" y="664290"/>
            <a:ext cx="4093365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Self-directed Activity (SDA)</a:t>
            </a:r>
            <a:endParaRPr lang="en-AE" sz="2800" dirty="0"/>
          </a:p>
        </p:txBody>
      </p:sp>
      <p:pic>
        <p:nvPicPr>
          <p:cNvPr id="7" name="Picture 2" descr="Free vector graphics of Lego">
            <a:extLst>
              <a:ext uri="{FF2B5EF4-FFF2-40B4-BE49-F238E27FC236}">
                <a16:creationId xmlns:a16="http://schemas.microsoft.com/office/drawing/2014/main" id="{82D9E657-E28D-BC41-B49D-D2E0946B8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62" y="604669"/>
            <a:ext cx="348892" cy="64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C17C9-C25C-F8F2-00F1-78061BE16F96}"/>
              </a:ext>
            </a:extLst>
          </p:cNvPr>
          <p:cNvSpPr txBox="1"/>
          <p:nvPr/>
        </p:nvSpPr>
        <p:spPr>
          <a:xfrm>
            <a:off x="683568" y="6315877"/>
            <a:ext cx="1450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Slide source: Dr Soly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CEECA-B3F5-3AFB-4526-3BE72A327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897" y="311719"/>
            <a:ext cx="1571844" cy="12003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3861" y="2304732"/>
            <a:ext cx="6959600" cy="2551339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4965" indent="-342265">
              <a:spcBef>
                <a:spcPts val="315"/>
              </a:spcBef>
              <a:buFont typeface="Arial"/>
              <a:buChar char="•"/>
              <a:tabLst>
                <a:tab pos="354965" algn="l"/>
              </a:tabLst>
            </a:pPr>
            <a:r>
              <a:rPr sz="1700" dirty="0">
                <a:solidFill>
                  <a:srgbClr val="0C2340"/>
                </a:solidFill>
                <a:latin typeface="Montserrat"/>
                <a:cs typeface="Montserrat"/>
              </a:rPr>
              <a:t>Create</a:t>
            </a:r>
            <a:r>
              <a:rPr sz="1700"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700" dirty="0">
                <a:solidFill>
                  <a:srgbClr val="0C2340"/>
                </a:solidFill>
                <a:latin typeface="Montserrat"/>
                <a:cs typeface="Montserrat"/>
              </a:rPr>
              <a:t>a</a:t>
            </a:r>
            <a:r>
              <a:rPr sz="1700" spc="-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700" dirty="0">
                <a:solidFill>
                  <a:srgbClr val="0C2340"/>
                </a:solidFill>
                <a:latin typeface="Montserrat"/>
                <a:cs typeface="Montserrat"/>
              </a:rPr>
              <a:t>CI/CD</a:t>
            </a:r>
            <a:r>
              <a:rPr sz="1700" spc="-4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700" dirty="0">
                <a:solidFill>
                  <a:srgbClr val="0C2340"/>
                </a:solidFill>
                <a:latin typeface="Montserrat"/>
                <a:cs typeface="Montserrat"/>
              </a:rPr>
              <a:t>pipeline</a:t>
            </a:r>
            <a:r>
              <a:rPr sz="1700" spc="-5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700" dirty="0">
                <a:solidFill>
                  <a:srgbClr val="0C2340"/>
                </a:solidFill>
                <a:latin typeface="Montserrat"/>
                <a:cs typeface="Montserrat"/>
              </a:rPr>
              <a:t>on</a:t>
            </a:r>
            <a:r>
              <a:rPr sz="1700" spc="-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700" spc="-10" dirty="0">
                <a:solidFill>
                  <a:srgbClr val="0C2340"/>
                </a:solidFill>
                <a:latin typeface="Montserrat"/>
                <a:cs typeface="Montserrat"/>
              </a:rPr>
              <a:t>GitLab</a:t>
            </a:r>
            <a:endParaRPr lang="en-US" sz="1700" spc="-10" dirty="0">
              <a:solidFill>
                <a:srgbClr val="0C2340"/>
              </a:solidFill>
              <a:latin typeface="Montserrat"/>
              <a:cs typeface="Montserrat"/>
            </a:endParaRPr>
          </a:p>
          <a:p>
            <a:pPr marL="354965" indent="-342265">
              <a:spcBef>
                <a:spcPts val="315"/>
              </a:spcBef>
              <a:buFont typeface="Arial"/>
              <a:buChar char="•"/>
              <a:tabLst>
                <a:tab pos="354965" algn="l"/>
              </a:tabLst>
            </a:pPr>
            <a:endParaRPr sz="1700" dirty="0">
              <a:latin typeface="Montserrat"/>
              <a:cs typeface="Montserrat"/>
            </a:endParaRPr>
          </a:p>
          <a:p>
            <a:pPr marL="756285" marR="179070" lvl="1" indent="-287020">
              <a:lnSpc>
                <a:spcPts val="1730"/>
              </a:lnSpc>
              <a:spcBef>
                <a:spcPts val="409"/>
              </a:spcBef>
              <a:buFont typeface="Arial"/>
              <a:buChar char="–"/>
              <a:tabLst>
                <a:tab pos="756285" algn="l"/>
              </a:tabLst>
            </a:pPr>
            <a:r>
              <a:rPr sz="1600" spc="-10" dirty="0">
                <a:solidFill>
                  <a:srgbClr val="0C2340"/>
                </a:solidFill>
                <a:latin typeface="Montserrat"/>
                <a:cs typeface="Montserrat"/>
              </a:rPr>
              <a:t>Create/add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a</a:t>
            </a:r>
            <a:r>
              <a:rPr sz="1600"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file</a:t>
            </a:r>
            <a:r>
              <a:rPr sz="1600" spc="-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called</a:t>
            </a:r>
            <a:r>
              <a:rPr sz="1600" spc="-1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spc="-20" dirty="0">
                <a:solidFill>
                  <a:srgbClr val="0C2340"/>
                </a:solidFill>
                <a:latin typeface="Montserrat"/>
                <a:cs typeface="Montserrat"/>
              </a:rPr>
              <a:t>“.gitlab-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ci.yml”</a:t>
            </a:r>
            <a:r>
              <a:rPr sz="1600" spc="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in</a:t>
            </a:r>
            <a:r>
              <a:rPr sz="1600" spc="-1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the</a:t>
            </a:r>
            <a:r>
              <a:rPr sz="16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root</a:t>
            </a:r>
            <a:r>
              <a:rPr sz="16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folder</a:t>
            </a:r>
            <a:r>
              <a:rPr sz="1600"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spc="-25" dirty="0">
                <a:solidFill>
                  <a:srgbClr val="0C2340"/>
                </a:solidFill>
                <a:latin typeface="Montserrat"/>
                <a:cs typeface="Montserrat"/>
              </a:rPr>
              <a:t>of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your</a:t>
            </a:r>
            <a:r>
              <a:rPr sz="16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spc="-10" dirty="0">
                <a:solidFill>
                  <a:srgbClr val="0C2340"/>
                </a:solidFill>
                <a:latin typeface="Montserrat"/>
                <a:cs typeface="Montserrat"/>
              </a:rPr>
              <a:t>project.</a:t>
            </a:r>
            <a:endParaRPr sz="1600" dirty="0">
              <a:latin typeface="Montserrat"/>
              <a:cs typeface="Montserrat"/>
            </a:endParaRPr>
          </a:p>
          <a:p>
            <a:pPr marL="756285" marR="144780" lvl="1" indent="-287020">
              <a:lnSpc>
                <a:spcPts val="1730"/>
              </a:lnSpc>
              <a:spcBef>
                <a:spcPts val="380"/>
              </a:spcBef>
              <a:buFont typeface="Arial"/>
              <a:buChar char="–"/>
              <a:tabLst>
                <a:tab pos="756285" algn="l"/>
              </a:tabLst>
            </a:pP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This</a:t>
            </a:r>
            <a:r>
              <a:rPr sz="1600"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YAML</a:t>
            </a:r>
            <a:r>
              <a:rPr sz="1600" spc="-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file</a:t>
            </a:r>
            <a:r>
              <a:rPr sz="16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defines</a:t>
            </a:r>
            <a:r>
              <a:rPr sz="1600"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the</a:t>
            </a:r>
            <a:r>
              <a:rPr sz="16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structure</a:t>
            </a:r>
            <a:r>
              <a:rPr sz="1600"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and</a:t>
            </a:r>
            <a:r>
              <a:rPr sz="1600"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order</a:t>
            </a:r>
            <a:r>
              <a:rPr sz="1600" spc="-4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of</a:t>
            </a:r>
            <a:r>
              <a:rPr sz="1600" spc="-5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the</a:t>
            </a:r>
            <a:r>
              <a:rPr sz="1600" spc="-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spc="-10" dirty="0">
                <a:solidFill>
                  <a:srgbClr val="0C2340"/>
                </a:solidFill>
                <a:latin typeface="Montserrat"/>
                <a:cs typeface="Montserrat"/>
              </a:rPr>
              <a:t>CI/CD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pineline</a:t>
            </a:r>
            <a:r>
              <a:rPr sz="16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dirty="0">
                <a:solidFill>
                  <a:srgbClr val="0C2340"/>
                </a:solidFill>
                <a:latin typeface="Montserrat"/>
                <a:cs typeface="Montserrat"/>
              </a:rPr>
              <a:t>and</a:t>
            </a:r>
            <a:r>
              <a:rPr sz="1600" spc="-5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600" spc="-10" dirty="0">
                <a:solidFill>
                  <a:srgbClr val="0C2340"/>
                </a:solidFill>
                <a:latin typeface="Montserrat"/>
                <a:cs typeface="Montserrat"/>
              </a:rPr>
              <a:t>decides:</a:t>
            </a:r>
            <a:endParaRPr sz="1600" dirty="0">
              <a:latin typeface="Montserrat"/>
              <a:cs typeface="Montserrat"/>
            </a:endParaRPr>
          </a:p>
          <a:p>
            <a:pPr marL="1155065" lvl="2" indent="-227965">
              <a:spcBef>
                <a:spcPts val="160"/>
              </a:spcBef>
              <a:buFont typeface="Arial"/>
              <a:buChar char="•"/>
              <a:tabLst>
                <a:tab pos="1155065" algn="l"/>
              </a:tabLst>
            </a:pP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What</a:t>
            </a:r>
            <a:r>
              <a:rPr sz="1500" spc="-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will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be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executed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using</a:t>
            </a:r>
            <a:r>
              <a:rPr sz="1500" spc="-2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GitLab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spc="-10" dirty="0">
                <a:solidFill>
                  <a:srgbClr val="0C2340"/>
                </a:solidFill>
                <a:latin typeface="Montserrat"/>
                <a:cs typeface="Montserrat"/>
              </a:rPr>
              <a:t>Runner</a:t>
            </a:r>
            <a:endParaRPr sz="1500" dirty="0">
              <a:latin typeface="Montserrat"/>
              <a:cs typeface="Montserrat"/>
            </a:endParaRPr>
          </a:p>
          <a:p>
            <a:pPr marL="1155065" marR="5080" lvl="2" indent="-228600">
              <a:lnSpc>
                <a:spcPts val="1620"/>
              </a:lnSpc>
              <a:spcBef>
                <a:spcPts val="380"/>
              </a:spcBef>
              <a:buFont typeface="Arial"/>
              <a:buChar char="•"/>
              <a:tabLst>
                <a:tab pos="1155065" algn="l"/>
              </a:tabLst>
            </a:pP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What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to</a:t>
            </a:r>
            <a:r>
              <a:rPr sz="1500"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do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when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some</a:t>
            </a:r>
            <a:r>
              <a:rPr sz="1500" spc="-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specific</a:t>
            </a:r>
            <a:r>
              <a:rPr sz="1500" spc="-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conditions</a:t>
            </a:r>
            <a:r>
              <a:rPr sz="1500" spc="-2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are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satisfied</a:t>
            </a:r>
            <a:r>
              <a:rPr sz="1500" spc="-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spc="-10" dirty="0">
                <a:solidFill>
                  <a:srgbClr val="0C2340"/>
                </a:solidFill>
                <a:latin typeface="Montserrat"/>
                <a:cs typeface="Montserrat"/>
              </a:rPr>
              <a:t>(e.g.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when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a</a:t>
            </a:r>
            <a:r>
              <a:rPr sz="1500"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process</a:t>
            </a:r>
            <a:r>
              <a:rPr sz="1500" spc="-2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succeeds</a:t>
            </a:r>
            <a:r>
              <a:rPr sz="1500"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or</a:t>
            </a:r>
            <a:r>
              <a:rPr sz="1500" spc="-4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spc="-10" dirty="0">
                <a:solidFill>
                  <a:srgbClr val="0C2340"/>
                </a:solidFill>
                <a:latin typeface="Montserrat"/>
                <a:cs typeface="Montserrat"/>
              </a:rPr>
              <a:t>fails).</a:t>
            </a:r>
            <a:endParaRPr sz="1500" dirty="0">
              <a:latin typeface="Montserrat"/>
              <a:cs typeface="Montserrat"/>
            </a:endParaRPr>
          </a:p>
          <a:p>
            <a:pPr marL="1155065" lvl="2" indent="-227965">
              <a:spcBef>
                <a:spcPts val="160"/>
              </a:spcBef>
              <a:buFont typeface="Arial"/>
              <a:buChar char="•"/>
              <a:tabLst>
                <a:tab pos="1155065" algn="l"/>
              </a:tabLst>
            </a:pP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See</a:t>
            </a:r>
            <a:r>
              <a:rPr sz="1500" spc="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spc="-10" dirty="0">
                <a:solidFill>
                  <a:srgbClr val="0C2340"/>
                </a:solidFill>
                <a:latin typeface="Montserrat"/>
                <a:cs typeface="Montserrat"/>
                <a:hlinkClick r:id="rId2"/>
              </a:rPr>
              <a:t>https://docs.gitlab.com/ee/ci/yaml/</a:t>
            </a:r>
            <a:r>
              <a:rPr lang="en-US" sz="1500" spc="-1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spc="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for</a:t>
            </a:r>
            <a:r>
              <a:rPr sz="1500" spc="1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dirty="0">
                <a:solidFill>
                  <a:srgbClr val="0C2340"/>
                </a:solidFill>
                <a:latin typeface="Montserrat"/>
                <a:cs typeface="Montserrat"/>
              </a:rPr>
              <a:t>more</a:t>
            </a:r>
            <a:r>
              <a:rPr sz="1500" spc="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z="1500" spc="-10" dirty="0">
                <a:solidFill>
                  <a:srgbClr val="0C2340"/>
                </a:solidFill>
                <a:latin typeface="Montserrat"/>
                <a:cs typeface="Montserrat"/>
              </a:rPr>
              <a:t>details</a:t>
            </a:r>
            <a:endParaRPr sz="1500" dirty="0">
              <a:latin typeface="Montserrat"/>
              <a:cs typeface="Montserra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841B7-2F1C-0C64-C363-C8772E96791E}"/>
              </a:ext>
            </a:extLst>
          </p:cNvPr>
          <p:cNvSpPr txBox="1"/>
          <p:nvPr/>
        </p:nvSpPr>
        <p:spPr>
          <a:xfrm>
            <a:off x="867310" y="664290"/>
            <a:ext cx="4093365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Self-directed Activity (SDA)</a:t>
            </a:r>
            <a:endParaRPr lang="en-AE" sz="2800" dirty="0"/>
          </a:p>
        </p:txBody>
      </p:sp>
      <p:pic>
        <p:nvPicPr>
          <p:cNvPr id="7" name="Picture 2" descr="Free vector graphics of Lego">
            <a:extLst>
              <a:ext uri="{FF2B5EF4-FFF2-40B4-BE49-F238E27FC236}">
                <a16:creationId xmlns:a16="http://schemas.microsoft.com/office/drawing/2014/main" id="{31605070-FFCF-883E-1FD9-37C1583C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62" y="604669"/>
            <a:ext cx="348892" cy="64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A735F6-ADA9-8ADD-BA50-DC45613AB1F8}"/>
              </a:ext>
            </a:extLst>
          </p:cNvPr>
          <p:cNvSpPr txBox="1"/>
          <p:nvPr/>
        </p:nvSpPr>
        <p:spPr>
          <a:xfrm>
            <a:off x="683568" y="6315877"/>
            <a:ext cx="1450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Slide source: Dr Soly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BBBB5A78-2B58-404B-0370-CA05459FA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4154" y="1285459"/>
            <a:ext cx="721166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b="1" dirty="0"/>
              <a:t>Classwork</a:t>
            </a:r>
            <a:r>
              <a:rPr lang="en-US" dirty="0"/>
              <a:t>: </a:t>
            </a:r>
            <a:r>
              <a:rPr dirty="0"/>
              <a:t>CI/CD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GitLab</a:t>
            </a:r>
            <a:endParaRPr spc="-1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0F9C6F-70AF-7E72-7B92-C853661FF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897" y="311719"/>
            <a:ext cx="1571844" cy="12003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1" y="692696"/>
            <a:ext cx="663508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dirty="0"/>
              <a:t>CI/CD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GitLab</a:t>
            </a:r>
            <a:r>
              <a:rPr spc="-25" dirty="0"/>
              <a:t> 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27584" y="2066447"/>
            <a:ext cx="7165975" cy="3038011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spcBef>
                <a:spcPts val="530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A</a:t>
            </a:r>
            <a:r>
              <a:rPr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live</a:t>
            </a:r>
            <a:r>
              <a:rPr spc="-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demo</a:t>
            </a:r>
            <a:r>
              <a:rPr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of</a:t>
            </a:r>
            <a:r>
              <a:rPr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how</a:t>
            </a:r>
            <a:r>
              <a:rPr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to</a:t>
            </a:r>
            <a:r>
              <a:rPr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set</a:t>
            </a:r>
            <a:r>
              <a:rPr spc="-3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up</a:t>
            </a:r>
            <a:r>
              <a:rPr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and</a:t>
            </a:r>
            <a:r>
              <a:rPr spc="-2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run</a:t>
            </a:r>
            <a:r>
              <a:rPr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CI/CD</a:t>
            </a:r>
            <a:r>
              <a:rPr spc="-1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with</a:t>
            </a:r>
            <a:r>
              <a:rPr spc="-4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0C2340"/>
                </a:solidFill>
                <a:latin typeface="Montserrat"/>
                <a:cs typeface="Montserrat"/>
              </a:rPr>
              <a:t>GitLab</a:t>
            </a:r>
            <a:endParaRPr dirty="0">
              <a:latin typeface="Montserrat"/>
              <a:cs typeface="Montserrat"/>
            </a:endParaRPr>
          </a:p>
          <a:p>
            <a:pPr marL="756285" marR="5080" lvl="1" indent="-287020">
              <a:spcBef>
                <a:spcPts val="409"/>
              </a:spcBef>
              <a:buClr>
                <a:srgbClr val="0C2340"/>
              </a:buClr>
              <a:buFont typeface="Arial"/>
              <a:buChar char="–"/>
              <a:tabLst>
                <a:tab pos="756285" algn="l"/>
              </a:tabLst>
            </a:pPr>
            <a:r>
              <a:rPr sz="1700" u="sng" spc="-10" dirty="0">
                <a:solidFill>
                  <a:srgbClr val="245397"/>
                </a:solidFill>
                <a:uFill>
                  <a:solidFill>
                    <a:srgbClr val="245397"/>
                  </a:solidFill>
                </a:uFill>
                <a:latin typeface="Montserrat"/>
                <a:cs typeface="Montserrat"/>
                <a:hlinkClick r:id="rId2"/>
              </a:rPr>
              <a:t>https://www.youtube.com/watch?v=jUiKi6FWYrg&amp;list=PL</a:t>
            </a:r>
            <a:r>
              <a:rPr sz="1700" spc="-10" dirty="0">
                <a:solidFill>
                  <a:srgbClr val="245397"/>
                </a:solidFill>
                <a:latin typeface="Montserrat"/>
                <a:cs typeface="Montserrat"/>
                <a:hlinkClick r:id="rId2"/>
              </a:rPr>
              <a:t> </a:t>
            </a:r>
            <a:r>
              <a:rPr sz="1700" u="sng" spc="-10" dirty="0">
                <a:solidFill>
                  <a:srgbClr val="245397"/>
                </a:solidFill>
                <a:uFill>
                  <a:solidFill>
                    <a:srgbClr val="245397"/>
                  </a:solidFill>
                </a:uFill>
                <a:latin typeface="Montserrat"/>
                <a:cs typeface="Montserrat"/>
                <a:hlinkClick r:id="rId2"/>
              </a:rPr>
              <a:t>hW3qG5bs-L8YSnCiyQ-jD8XfHC2W1NL_&amp;index=8</a:t>
            </a:r>
            <a:endParaRPr lang="en-US" sz="1700" u="sng" spc="-10" dirty="0">
              <a:solidFill>
                <a:srgbClr val="245397"/>
              </a:solidFill>
              <a:uFill>
                <a:solidFill>
                  <a:srgbClr val="245397"/>
                </a:solidFill>
              </a:uFill>
              <a:latin typeface="Montserrat"/>
              <a:cs typeface="Montserrat"/>
            </a:endParaRPr>
          </a:p>
          <a:p>
            <a:pPr marL="756285" marR="5080" lvl="1" indent="-287020">
              <a:spcBef>
                <a:spcPts val="409"/>
              </a:spcBef>
              <a:buClr>
                <a:srgbClr val="0C2340"/>
              </a:buClr>
              <a:buFont typeface="Arial"/>
              <a:buChar char="–"/>
              <a:tabLst>
                <a:tab pos="756285" algn="l"/>
              </a:tabLst>
            </a:pPr>
            <a:endParaRPr sz="1700" dirty="0">
              <a:latin typeface="Montserrat"/>
              <a:cs typeface="Montserrat"/>
            </a:endParaRPr>
          </a:p>
          <a:p>
            <a:pPr marL="355600" marR="163195" indent="-342900">
              <a:spcBef>
                <a:spcPts val="430"/>
              </a:spcBef>
              <a:buFont typeface="Arial"/>
              <a:buChar char="•"/>
              <a:tabLst>
                <a:tab pos="355600" algn="l"/>
              </a:tabLst>
            </a:pP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GitLab</a:t>
            </a:r>
            <a:r>
              <a:rPr spc="-5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CI/CD</a:t>
            </a:r>
            <a:r>
              <a:rPr spc="-2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Examples</a:t>
            </a:r>
            <a:r>
              <a:rPr spc="-6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for</a:t>
            </a:r>
            <a:r>
              <a:rPr spc="-5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different</a:t>
            </a:r>
            <a:r>
              <a:rPr spc="-6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types</a:t>
            </a:r>
            <a:r>
              <a:rPr spc="-4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of</a:t>
            </a:r>
            <a:r>
              <a:rPr spc="-5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0C2340"/>
                </a:solidFill>
                <a:latin typeface="Montserrat"/>
                <a:cs typeface="Montserrat"/>
              </a:rPr>
              <a:t>applications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written</a:t>
            </a:r>
            <a:r>
              <a:rPr spc="-6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in</a:t>
            </a:r>
            <a:r>
              <a:rPr spc="-35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different</a:t>
            </a:r>
            <a:r>
              <a:rPr spc="-5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dirty="0">
                <a:solidFill>
                  <a:srgbClr val="0C2340"/>
                </a:solidFill>
                <a:latin typeface="Montserrat"/>
                <a:cs typeface="Montserrat"/>
              </a:rPr>
              <a:t>programing</a:t>
            </a:r>
            <a:r>
              <a:rPr spc="-5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r>
              <a:rPr spc="-10" dirty="0">
                <a:solidFill>
                  <a:srgbClr val="0C2340"/>
                </a:solidFill>
                <a:latin typeface="Montserrat"/>
                <a:cs typeface="Montserrat"/>
              </a:rPr>
              <a:t>languages</a:t>
            </a:r>
            <a:endParaRPr dirty="0">
              <a:latin typeface="Montserrat"/>
              <a:cs typeface="Montserrat"/>
            </a:endParaRPr>
          </a:p>
          <a:p>
            <a:pPr marL="756285" lvl="1" indent="-286385">
              <a:spcBef>
                <a:spcPts val="409"/>
              </a:spcBef>
              <a:buFont typeface="Arial"/>
              <a:buChar char="–"/>
              <a:tabLst>
                <a:tab pos="756285" algn="l"/>
              </a:tabLst>
            </a:pPr>
            <a:r>
              <a:rPr sz="1700" spc="-10" dirty="0">
                <a:solidFill>
                  <a:srgbClr val="0C2340"/>
                </a:solidFill>
                <a:latin typeface="Montserrat"/>
                <a:cs typeface="Montserrat"/>
                <a:hlinkClick r:id="rId3"/>
              </a:rPr>
              <a:t>https://docs.gitlab.com/ee/ci/examples/</a:t>
            </a:r>
            <a:endParaRPr lang="en-US" sz="1700" spc="-10" dirty="0">
              <a:solidFill>
                <a:srgbClr val="0C2340"/>
              </a:solidFill>
              <a:latin typeface="Montserrat"/>
              <a:cs typeface="Montserrat"/>
            </a:endParaRPr>
          </a:p>
          <a:p>
            <a:pPr marL="756285" lvl="1" indent="-286385">
              <a:spcBef>
                <a:spcPts val="409"/>
              </a:spcBef>
              <a:buFont typeface="Arial"/>
              <a:buChar char="–"/>
              <a:tabLst>
                <a:tab pos="756285" algn="l"/>
              </a:tabLst>
            </a:pPr>
            <a:endParaRPr lang="en-US" sz="1700" spc="-10" dirty="0">
              <a:solidFill>
                <a:srgbClr val="0C2340"/>
              </a:solidFill>
              <a:latin typeface="Montserrat"/>
              <a:cs typeface="Montserrat"/>
            </a:endParaRPr>
          </a:p>
          <a:p>
            <a:pPr marL="756285" lvl="1" indent="-286385">
              <a:spcBef>
                <a:spcPts val="409"/>
              </a:spcBef>
              <a:buFont typeface="Arial"/>
              <a:buChar char="–"/>
              <a:tabLst>
                <a:tab pos="756285" algn="l"/>
              </a:tabLst>
            </a:pPr>
            <a:r>
              <a:rPr lang="en-US" sz="1700" spc="-10" dirty="0">
                <a:solidFill>
                  <a:srgbClr val="0C2340"/>
                </a:solidFill>
                <a:latin typeface="Montserrat"/>
                <a:cs typeface="Montserrat"/>
              </a:rPr>
              <a:t>Dev Ops </a:t>
            </a:r>
            <a:r>
              <a:rPr lang="en-US" sz="1700" spc="-10" dirty="0">
                <a:solidFill>
                  <a:srgbClr val="0C2340"/>
                </a:solidFill>
                <a:latin typeface="Montserrat"/>
                <a:cs typeface="Montserrat"/>
                <a:hlinkClick r:id="rId4"/>
              </a:rPr>
              <a:t>https://www.youtube.com/watch?v=UbtB4sMaaNM</a:t>
            </a:r>
            <a:r>
              <a:rPr lang="en-US" sz="1700" spc="-10" dirty="0">
                <a:solidFill>
                  <a:srgbClr val="0C2340"/>
                </a:solidFill>
                <a:latin typeface="Montserrat"/>
                <a:cs typeface="Montserrat"/>
              </a:rPr>
              <a:t> </a:t>
            </a:r>
            <a:endParaRPr sz="1700" dirty="0">
              <a:latin typeface="Montserrat"/>
              <a:cs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E352F-7271-E5A1-F2AE-BCA943D5842C}"/>
              </a:ext>
            </a:extLst>
          </p:cNvPr>
          <p:cNvSpPr txBox="1"/>
          <p:nvPr/>
        </p:nvSpPr>
        <p:spPr>
          <a:xfrm>
            <a:off x="683568" y="6315877"/>
            <a:ext cx="1450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Slide source: Dr Soly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F722C-21A1-9568-6841-6E7F0EED1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312" y="254869"/>
            <a:ext cx="1571844" cy="1200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OWD v3">
  <a:themeElements>
    <a:clrScheme name="uowd">
      <a:dk1>
        <a:srgbClr val="0C2340"/>
      </a:dk1>
      <a:lt1>
        <a:sysClr val="window" lastClr="FFFFFF"/>
      </a:lt1>
      <a:dk2>
        <a:srgbClr val="0033CC"/>
      </a:dk2>
      <a:lt2>
        <a:srgbClr val="E106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9297</TotalTime>
  <Words>223</Words>
  <Application>Microsoft Office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Montserrat</vt:lpstr>
      <vt:lpstr>Times New Roman</vt:lpstr>
      <vt:lpstr>Verdana</vt:lpstr>
      <vt:lpstr>UOWD v3</vt:lpstr>
      <vt:lpstr>CI/CD with GitLab</vt:lpstr>
      <vt:lpstr>CI/CD with GitLab</vt:lpstr>
      <vt:lpstr>Classwork: CI/CD with GitLab</vt:lpstr>
      <vt:lpstr>CI/CD with GitLab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Lorain Manoj</dc:creator>
  <cp:lastModifiedBy>Zeenath Reza Khan</cp:lastModifiedBy>
  <cp:revision>1046</cp:revision>
  <dcterms:created xsi:type="dcterms:W3CDTF">2017-03-16T10:23:20Z</dcterms:created>
  <dcterms:modified xsi:type="dcterms:W3CDTF">2026-02-23T17:54:11Z</dcterms:modified>
</cp:coreProperties>
</file>